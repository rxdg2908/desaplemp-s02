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1" r:id="rId3"/>
    <p:sldId id="272" r:id="rId4"/>
    <p:sldId id="275" r:id="rId5"/>
    <p:sldId id="273" r:id="rId6"/>
    <p:sldId id="274" r:id="rId7"/>
    <p:sldId id="276" r:id="rId8"/>
    <p:sldId id="277" r:id="rId9"/>
    <p:sldId id="278" r:id="rId10"/>
    <p:sldId id="296" r:id="rId11"/>
    <p:sldId id="297" r:id="rId12"/>
    <p:sldId id="298" r:id="rId13"/>
    <p:sldId id="279" r:id="rId14"/>
    <p:sldId id="299" r:id="rId15"/>
    <p:sldId id="300" r:id="rId16"/>
    <p:sldId id="280" r:id="rId17"/>
    <p:sldId id="301" r:id="rId18"/>
    <p:sldId id="302" r:id="rId19"/>
    <p:sldId id="281" r:id="rId20"/>
    <p:sldId id="303" r:id="rId21"/>
    <p:sldId id="282" r:id="rId22"/>
    <p:sldId id="304" r:id="rId23"/>
    <p:sldId id="305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70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xWzszlU4qCRB+HW7K9zsDWIgW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Bienvenida a la sesión 2. Hoy construimos el mapa completo de Django: Project, App, MVT, Request/Response, y lo conectamos con el proyecto real DjangoInicial (config/core/Item) que ya conocen del Laboratorio 01.</a:t>
            </a:r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las 5 capacidades en voz alta. Aclarar que al final de la sesión el estudiante debe poder explicar oralmente el recorrido completo de una petición.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Panorama de la sesión. Indicar que se cerrará con el proyecto real DjangoInicial.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framework ofrece estructura y herramientas para resolver problemas comunes de desarrollo web, evitando construir cada componente desde cero.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proyecto DjangoInicial funcionando (o el video sugerido). Crear, ver o listar un Item y preguntar: ¿dónde se guardó?, ¿qué recibió el servidor?, ¿qué componente decidió qué función ejecutar?, ¿cómo volvió el resultado al navegador?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es obligatorio incrustar el video si no es posible; dejar claramente indicado el espacio y el tema recomendado. Al finalizar, preguntar qué componentes reconocieron.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Enfatizar: el Project es un único contenedor de configuración; cada App resuelve una responsabilidad concreta del sistema y puede reutilizarse en otros proyectos.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exactamente el repositorio DjangoInicial que ya revisamos: config = Project, core = App. Solo existe una App por ahora; en la Presentación 2 agregaremos store.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4259990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1348080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1272645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 de confusión frecuente: no confundir la View de Django (procesamiento) con la View de MVC (presentación) — en Django, ese rol lo cumple el Template.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3115717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1744717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urls.py funciona como un director de tráfico: busca una coincidencia y envía la solicitud a la View correspondiente.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3773273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3366091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ORM traduce operaciones sobre objetos Python en sentencias SQL. Comparación conceptual (no exacta): QuerySet de Django ≈ LINQ/Entity Framework en .NET.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1896804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makemigrations detecta cambios en los modelos y genera un archivo de migración; migrate aplica esos cambios a la base de datos real.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2211150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MVT es la variante de Django sobre el patrón MVC clásico. El View de Django no es una vista HTML: decide qué hacer con la solicitud (similar a un Controller).</a:t>
            </a:r>
          </a:p>
        </p:txBody>
      </p:sp>
    </p:spTree>
    <p:extLst>
      <p:ext uri="{BB962C8B-B14F-4D97-AF65-F5344CB8AC3E}">
        <p14:creationId xmlns:p14="http://schemas.microsoft.com/office/powerpoint/2010/main" val="3814373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Context transporta datos desde la View hacia el Template. El Template los presenta como HTML. item_list.html extiende base.html mediante {% extends %}.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la imagen completa primero. Recorrer las 6 secciones: estructura del proyecto vacío, arquitectura inicial, componentes generados, flujo de una petición en un proyecto vacío, comandos, y qué sigue después (crear apps).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cada archivo explicando qué es, para qué sirve y cuándo interviene en el flujo.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Repositorio: https://github.com/ybestard2021/DjangoInicial.git — Recorrer la imagen: visión general, estructura del repositorio, flujo de una petición, componentes principales, modelo de datos y diagrama de arquitectura completo.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settings.py registra 'core' en INSTALLED_APPS y define SQLite como base de datos. urls.py delega toda ruta que no sea /admin/ hacia core.urls mediante include().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línea por línea: item_list consulta todos los Item con el ORM y los entrega al template item_list.html dentro de un diccionario de contexto.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Item es la única entidad del proyecto inicial. admin.py la registra para poder crear, editar y eliminar registros desde el panel de administración de Django.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item_list.html extiende base.html y reutiliza su estructura común. {% for %} recorre los items; {% empty %} se muestra solo si la lista está vacía.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diagrama completo, paso a paso, apoyándose en el código ya mostrado. Este es el flujo de EJECUCIÓN de una petición real sobre el proyecto DjangoInicial.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Distinguir claramente ambos flujos: el de ejecución ocurre en cada request; el de desarrollo es la secuencia de pasos que sigue el programador para construir la app.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recordando que el laboratorio siguiente amplía este mismo proyecto agregando una nueva App (store), tal como se explica en la Presentación 2.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Espacio para actividad Kahoot con estas mismas preguntas (Project vs App, MVT, Request/Response, URLs, Views, Models, ORM, Migraciones, Templates).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documentación oficial de Django 5.2 es la referencia principal porque coincide con la versión que utiliza actualmente el repositorio DjangoInicial (5.2.17).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9bebcc09665a6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119bebcc09665a6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Gracias. Repositorio del ejemplo: https://github.com/ybestard2021/DjangoInicial.git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1523998" y="1840708"/>
            <a:ext cx="89480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1523999" y="4501924"/>
            <a:ext cx="89480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77372" y="39914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>
            <a:spLocks noGrp="1"/>
          </p:cNvSpPr>
          <p:nvPr>
            <p:ph type="pic" idx="2"/>
          </p:nvPr>
        </p:nvSpPr>
        <p:spPr>
          <a:xfrm>
            <a:off x="4493759" y="992187"/>
            <a:ext cx="60944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26572" y="1789339"/>
            <a:ext cx="51307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2"/>
          </p:nvPr>
        </p:nvSpPr>
        <p:spPr>
          <a:xfrm>
            <a:off x="5660572" y="1789339"/>
            <a:ext cx="49130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cierre">
  <p:cSld name="CUSTOM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19bebcc09665a62_8"/>
          <p:cNvSpPr/>
          <p:nvPr/>
        </p:nvSpPr>
        <p:spPr>
          <a:xfrm>
            <a:off x="13575" y="16300"/>
            <a:ext cx="12192000" cy="684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g119bebcc09665a62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40828" y="2481579"/>
            <a:ext cx="4510344" cy="189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377372" y="399143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4421415" y="99218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 rot="5400000">
            <a:off x="3299846" y="-1096849"/>
            <a:ext cx="4351338" cy="1019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 rot="5400000">
            <a:off x="6500245" y="2060008"/>
            <a:ext cx="5811838" cy="242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 rot="5400000">
            <a:off x="133860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2">
            <a:alphaModFix/>
          </a:blip>
          <a:srcRect l="650"/>
          <a:stretch/>
        </p:blipFill>
        <p:spPr>
          <a:xfrm>
            <a:off x="0" y="0"/>
            <a:ext cx="12192000" cy="68526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bGoYvtgyzo?feature=oembed" TargetMode="Externa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ctrTitle"/>
          </p:nvPr>
        </p:nvSpPr>
        <p:spPr>
          <a:xfrm>
            <a:off x="1085087" y="1966798"/>
            <a:ext cx="8948057" cy="271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PE"/>
              <a:t>Desarrollo de Aplicación Empresariales</a:t>
            </a:r>
            <a:br>
              <a:rPr lang="es-PE"/>
            </a:br>
            <a:br>
              <a:rPr lang="es-PE"/>
            </a:br>
            <a:endParaRPr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225135" y="5441350"/>
            <a:ext cx="89480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PE">
                <a:solidFill>
                  <a:srgbClr val="888888"/>
                </a:solidFill>
              </a:rPr>
              <a:t>Diseño y Desarrollo de Software -  C24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Capacidades Terminales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 algn="l" rtl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SzPts val="1800"/>
              <a:buFont typeface="Arial"/>
              <a:buChar char="•"/>
            </a:pPr>
            <a:r>
              <a:rPr sz="2000">
                <a:solidFill>
                  <a:srgbClr val="1A1A1A"/>
                </a:solidFill>
                <a:latin typeface="Arial"/>
              </a:rPr>
              <a:t>Identificar la estructura básica de un proyecto Django.</a:t>
            </a:r>
            <a:endParaRPr/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1A1A1A"/>
                </a:solidFill>
                <a:latin typeface="Arial"/>
              </a:rPr>
              <a:t>Diferenciar un Project de una App.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1A1A1A"/>
                </a:solidFill>
                <a:latin typeface="Arial"/>
              </a:rPr>
              <a:t>Explicar el patrón Model–View–Template (MVT).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1A1A1A"/>
                </a:solidFill>
                <a:latin typeface="Arial"/>
              </a:rPr>
              <a:t>Describir el flujo de una solicitud HTTP desde la URL hasta la respuesta.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>
                <a:solidFill>
                  <a:srgbClr val="1A1A1A"/>
                </a:solidFill>
                <a:latin typeface="Arial"/>
              </a:rPr>
              <a:t>Reconocer la función de Models, Views, URLs, Templates, ORM y migraciones.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Contenido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indent="-228600" algn="l" rtl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SzPts val="1800"/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1. Django y las aplicaciones web</a:t>
            </a:r>
            <a:endParaRPr/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2. Project y Apps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3. Estructura de Django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4. Arquitectura MVT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5. Request y Response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6. URLs y Views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7. Models y ORM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8. Migraciones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9. Templates y Context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10. Flujo completo de una aplicación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¿Qué es Django?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7200" y="178308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Framework web de código abierto, escrito en Python.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2286000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Routing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71800" y="2286000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0" y="2286000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Views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01000" y="2286000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Templates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3227832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Forms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971800" y="3227832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Authentication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86400" y="3227832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001000" y="3227832"/>
            <a:ext cx="2377440" cy="7772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2700" b="1">
                <a:solidFill>
                  <a:srgbClr val="1A1A1A"/>
                </a:solidFill>
                <a:latin typeface="Arial"/>
              </a:rPr>
              <a:t>¿Qué ocurre detrás de una aplicación web?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7200" y="178308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</a:rPr>
              <a:t>Cuando un usuario abre una página, consulta datos o presiona un botón, el navegador envía una solicitud al servidor y espera una respuesta.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283464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DB8E0"/>
                </a:solidFill>
                <a:latin typeface="Arial"/>
              </a:rPr>
              <a:t>¿Qué ocurre entre la solicitud y la respuesta?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945758" y="2391862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Usuario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541386" y="2775910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945758" y="2876494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Navegador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8541386" y="3260542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945758" y="3361126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8541386" y="3745174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945758" y="3845758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Servidor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8541386" y="4229806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945758" y="4330390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Aplicación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8541386" y="4714438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945758" y="4815022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Base de datos</a:t>
            </a:r>
          </a:p>
        </p:txBody>
      </p:sp>
      <p:sp>
        <p:nvSpPr>
          <p:cNvPr id="94" name="Down Arrow 93"/>
          <p:cNvSpPr/>
          <p:nvPr/>
        </p:nvSpPr>
        <p:spPr>
          <a:xfrm>
            <a:off x="8541386" y="5199070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6945758" y="5299654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Response</a:t>
            </a:r>
          </a:p>
        </p:txBody>
      </p:sp>
      <p:sp>
        <p:nvSpPr>
          <p:cNvPr id="96" name="Down Arrow 95"/>
          <p:cNvSpPr/>
          <p:nvPr/>
        </p:nvSpPr>
        <p:spPr>
          <a:xfrm>
            <a:off x="8541386" y="5683702"/>
            <a:ext cx="100584" cy="100584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945758" y="5784286"/>
            <a:ext cx="3291840" cy="38404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Navegador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Video: Django Request / Response Cycle</a:t>
            </a:r>
            <a:endParaRPr sz="4000" dirty="0">
              <a:solidFill>
                <a:srgbClr val="000000"/>
              </a:solidFill>
            </a:endParaRPr>
          </a:p>
        </p:txBody>
      </p:sp>
      <p:pic>
        <p:nvPicPr>
          <p:cNvPr id="4" name="Elementos multimedia en línea 3" title="Django request-response: Un viaje de ida y vuelta - Imanol Cea - Track Avanzado">
            <a:hlinkClick r:id="" action="ppaction://media"/>
            <a:extLst>
              <a:ext uri="{FF2B5EF4-FFF2-40B4-BE49-F238E27FC236}">
                <a16:creationId xmlns:a16="http://schemas.microsoft.com/office/drawing/2014/main" id="{AF4D1D25-6302-59FE-4D64-B3CC0E6013C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58527" y="2468220"/>
            <a:ext cx="6606564" cy="37327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Project vs App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2926080" cy="64008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2560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Arial"/>
              </a:rPr>
              <a:t>= sistema completo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3200400"/>
            <a:ext cx="2926080" cy="64008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Arial"/>
              </a:rPr>
              <a:t>= módulo funcional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3360" y="178308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Sistema Empresarial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97680" y="2331720"/>
            <a:ext cx="2926080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clientes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97680" y="2953512"/>
            <a:ext cx="2926080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productos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97680" y="3575304"/>
            <a:ext cx="2926080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97680" y="4197096"/>
            <a:ext cx="2926080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inventario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3360" y="46634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Arial"/>
              </a:rPr>
              <a:t>Un Project puede contener varias Apps.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Project vs App en el proyecto real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django_project/src/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├── config/   → EL PROJECT</a:t>
            </a:r>
          </a:p>
          <a:p>
            <a:pPr algn="l"/>
            <a:r>
              <a:rPr sz="1600">
                <a:solidFill>
                  <a:srgbClr val="E8E8E8"/>
                </a:solidFill>
                <a:latin typeface="Consolas"/>
              </a:rPr>
              <a:t>└── core/     → UNA APP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2240" y="1920240"/>
            <a:ext cx="3566160" cy="64008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config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configuración del Project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92240" y="2743200"/>
            <a:ext cx="3566160" cy="64008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core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App funcional (modelo Item)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3794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Comandos utilizados: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206240"/>
            <a:ext cx="5669280" cy="10058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django-admin startproject config .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python manage.py startapp 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Arquitectura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MVT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38789" y="1370985"/>
            <a:ext cx="9760760" cy="369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MVT (</a:t>
            </a:r>
            <a:r>
              <a:rPr lang="es-ES" sz="2400" dirty="0" err="1"/>
              <a:t>Model</a:t>
            </a:r>
            <a:r>
              <a:rPr lang="es-ES" sz="2400" dirty="0"/>
              <a:t>–View–</a:t>
            </a:r>
            <a:r>
              <a:rPr lang="es-ES" sz="2400" dirty="0" err="1"/>
              <a:t>Template</a:t>
            </a:r>
            <a:r>
              <a:rPr lang="es-ES" sz="2400" dirty="0"/>
              <a:t>) es el patrón arquitectónico que utiliza Django para organizar una aplicación separando tres responsabilidades: los datos, el procesamiento de la solicitud y la presentación visual. Cuando llega una petición, Django la enruta hacia una View, que consulta o modifica datos a través de un </a:t>
            </a:r>
            <a:r>
              <a:rPr lang="es-ES" sz="2400" dirty="0" err="1"/>
              <a:t>Model</a:t>
            </a:r>
            <a:r>
              <a:rPr lang="es-ES" sz="2400" dirty="0"/>
              <a:t> y entrega el resultado a un </a:t>
            </a:r>
            <a:r>
              <a:rPr lang="es-ES" sz="2400" dirty="0" err="1"/>
              <a:t>Template</a:t>
            </a:r>
            <a:r>
              <a:rPr lang="es-ES" sz="2400" dirty="0"/>
              <a:t> para generar la respuesta HTML.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Ejemplo: Un usuario visita /productos/: el </a:t>
            </a:r>
            <a:r>
              <a:rPr lang="es-ES" sz="2400" dirty="0" err="1"/>
              <a:t>Model</a:t>
            </a:r>
            <a:r>
              <a:rPr lang="es-ES" sz="2400" dirty="0"/>
              <a:t> </a:t>
            </a:r>
            <a:r>
              <a:rPr lang="es-ES" sz="2400" dirty="0" err="1"/>
              <a:t>Product</a:t>
            </a:r>
            <a:r>
              <a:rPr lang="es-ES" sz="2400" dirty="0"/>
              <a:t> provee los datos, la View </a:t>
            </a:r>
            <a:r>
              <a:rPr lang="es-ES" sz="2400" dirty="0" err="1"/>
              <a:t>product_list</a:t>
            </a:r>
            <a:r>
              <a:rPr lang="es-ES" sz="2400" dirty="0"/>
              <a:t>() los consulta y decide qué hacer, y el </a:t>
            </a:r>
            <a:r>
              <a:rPr lang="es-ES" sz="2400" dirty="0" err="1"/>
              <a:t>Template</a:t>
            </a:r>
            <a:r>
              <a:rPr lang="es-ES" sz="2400" dirty="0"/>
              <a:t> product_list.html los muestra como una tabla HTML.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Arquitectura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MVT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3246120" cy="91440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MODEL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Datos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86200" y="1828800"/>
            <a:ext cx="3246120" cy="91440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VIEW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Procesamiento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1828800"/>
            <a:ext cx="3246120" cy="914400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TEMPLATE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Presentación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3108960"/>
            <a:ext cx="1874519" cy="64008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2359151" y="336042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2523743" y="3108960"/>
            <a:ext cx="1874519" cy="64008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4425694" y="336042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4590286" y="3108960"/>
            <a:ext cx="1874519" cy="64008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View / Model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6492237" y="336042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656829" y="3108960"/>
            <a:ext cx="1874519" cy="640080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8558780" y="336042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723372" y="3108960"/>
            <a:ext cx="1874519" cy="64008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Response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420624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Model representa los datos · View recibe la solicitud y decide qué hacer · Template genera la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400841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Arquitectura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</a:t>
            </a:r>
            <a:r>
              <a:rPr lang="es-ES" sz="3200" b="1" dirty="0">
                <a:solidFill>
                  <a:srgbClr val="1A1A1A"/>
                </a:solidFill>
                <a:latin typeface="Arial"/>
              </a:rPr>
              <a:t>MVC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38789" y="1370985"/>
            <a:ext cx="9760760" cy="369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MVC (</a:t>
            </a:r>
            <a:r>
              <a:rPr lang="es-ES" sz="2400" dirty="0" err="1"/>
              <a:t>Model</a:t>
            </a:r>
            <a:r>
              <a:rPr lang="es-ES" sz="2400" dirty="0"/>
              <a:t>–View–</a:t>
            </a:r>
            <a:r>
              <a:rPr lang="es-ES" sz="2400" dirty="0" err="1"/>
              <a:t>Controller</a:t>
            </a:r>
            <a:r>
              <a:rPr lang="es-ES" sz="2400" dirty="0"/>
              <a:t>) es un patrón de diseño de software clásico, anterior y más general que MVT, utilizado en muchos </a:t>
            </a:r>
            <a:r>
              <a:rPr lang="es-ES" sz="2400" dirty="0" err="1"/>
              <a:t>frameworks</a:t>
            </a:r>
            <a:r>
              <a:rPr lang="es-ES" sz="2400" dirty="0"/>
              <a:t> web (como ASP.NET o Laravel). Divide una aplicación en tres capas: el </a:t>
            </a:r>
            <a:r>
              <a:rPr lang="es-ES" sz="2400" dirty="0" err="1"/>
              <a:t>Model</a:t>
            </a:r>
            <a:r>
              <a:rPr lang="es-ES" sz="2400" dirty="0"/>
              <a:t> (datos y reglas de negocio), la View (lo que el usuario ve, típicamente HTML) y el </a:t>
            </a:r>
            <a:r>
              <a:rPr lang="es-ES" sz="2400" dirty="0" err="1"/>
              <a:t>Controller</a:t>
            </a:r>
            <a:r>
              <a:rPr lang="es-ES" sz="2400" dirty="0"/>
              <a:t> (la lógica que recibe la solicitud, decide qué hacer y coordina entre </a:t>
            </a:r>
            <a:r>
              <a:rPr lang="es-ES" sz="2400" dirty="0" err="1"/>
              <a:t>Model</a:t>
            </a:r>
            <a:r>
              <a:rPr lang="es-ES" sz="2400" dirty="0"/>
              <a:t> y View).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Ejemplo: En una app ASP.NET, el </a:t>
            </a:r>
            <a:r>
              <a:rPr lang="es-ES" sz="2400" dirty="0" err="1"/>
              <a:t>ProductController</a:t>
            </a:r>
            <a:r>
              <a:rPr lang="es-ES" sz="2400" dirty="0"/>
              <a:t> recibe la petición /</a:t>
            </a:r>
            <a:r>
              <a:rPr lang="es-ES" sz="2400" dirty="0" err="1"/>
              <a:t>products</a:t>
            </a:r>
            <a:r>
              <a:rPr lang="es-ES" sz="2400" dirty="0"/>
              <a:t>, pide los datos al </a:t>
            </a:r>
            <a:r>
              <a:rPr lang="es-ES" sz="2400" dirty="0" err="1"/>
              <a:t>Model</a:t>
            </a:r>
            <a:r>
              <a:rPr lang="es-ES" sz="2400" dirty="0"/>
              <a:t> </a:t>
            </a:r>
            <a:r>
              <a:rPr lang="es-ES" sz="2400" dirty="0" err="1"/>
              <a:t>Product</a:t>
            </a:r>
            <a:r>
              <a:rPr lang="es-ES" sz="2400" dirty="0"/>
              <a:t>, y llama a la View </a:t>
            </a:r>
            <a:r>
              <a:rPr lang="es-ES" sz="2400" dirty="0" err="1"/>
              <a:t>Products.cshtml</a:t>
            </a:r>
            <a:r>
              <a:rPr lang="es-ES" sz="2400" dirty="0"/>
              <a:t> para generar el HTML de respuesta.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460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Arquitectura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</a:t>
            </a:r>
            <a:r>
              <a:rPr lang="es-ES" sz="3200" b="1" dirty="0">
                <a:solidFill>
                  <a:srgbClr val="1A1A1A"/>
                </a:solidFill>
                <a:latin typeface="Arial"/>
              </a:rPr>
              <a:t>MVC vs Django MVT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38789" y="1370985"/>
            <a:ext cx="9760760" cy="369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Aunque Django suele describirse como "MVC", en realidad implementa una variante llamada MVT. El </a:t>
            </a:r>
            <a:r>
              <a:rPr lang="es-ES" sz="2400" dirty="0" err="1"/>
              <a:t>Model</a:t>
            </a:r>
            <a:r>
              <a:rPr lang="es-ES" sz="2400" dirty="0"/>
              <a:t> conserva el mismo rol en ambos patrones, pero lo que en MVC se llama </a:t>
            </a:r>
            <a:r>
              <a:rPr lang="es-ES" sz="2400" dirty="0" err="1"/>
              <a:t>Controller</a:t>
            </a:r>
            <a:r>
              <a:rPr lang="es-ES" sz="2400" dirty="0"/>
              <a:t> (la lógica que procesa la solicitud) en Django se llama View; y lo que en MVC se llama View (la presentación HTML) en Django se llama </a:t>
            </a:r>
            <a:r>
              <a:rPr lang="es-ES" sz="2400" dirty="0" err="1"/>
              <a:t>Template</a:t>
            </a:r>
            <a:r>
              <a:rPr lang="es-ES" sz="2400" dirty="0"/>
              <a:t>.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Ejemplo: Lo que en ASP.NET sería el </a:t>
            </a:r>
            <a:r>
              <a:rPr lang="es-ES" sz="2400" dirty="0" err="1"/>
              <a:t>ProductController</a:t>
            </a:r>
            <a:r>
              <a:rPr lang="es-ES" sz="2400" dirty="0"/>
              <a:t> (</a:t>
            </a:r>
            <a:r>
              <a:rPr lang="es-ES" sz="2400" dirty="0" err="1"/>
              <a:t>Controller</a:t>
            </a:r>
            <a:r>
              <a:rPr lang="es-ES" sz="2400" dirty="0"/>
              <a:t>), en Django es la función </a:t>
            </a:r>
            <a:r>
              <a:rPr lang="es-ES" sz="2400" dirty="0" err="1"/>
              <a:t>product_list</a:t>
            </a:r>
            <a:r>
              <a:rPr lang="es-ES" sz="2400" dirty="0"/>
              <a:t>(</a:t>
            </a:r>
            <a:r>
              <a:rPr lang="es-ES" sz="2400" dirty="0" err="1"/>
              <a:t>request</a:t>
            </a:r>
            <a:r>
              <a:rPr lang="es-ES" sz="2400" dirty="0"/>
              <a:t>) (View); y lo que en ASP.NET sería </a:t>
            </a:r>
            <a:r>
              <a:rPr lang="es-ES" sz="2400" dirty="0" err="1"/>
              <a:t>Products.cshtml</a:t>
            </a:r>
            <a:r>
              <a:rPr lang="es-ES" sz="2400" dirty="0"/>
              <a:t> (View), en Django es product_list.html (</a:t>
            </a:r>
            <a:r>
              <a:rPr lang="es-ES" sz="2400" dirty="0" err="1"/>
              <a:t>Template</a:t>
            </a:r>
            <a:r>
              <a:rPr lang="es-ES" sz="2400" dirty="0"/>
              <a:t>).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064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80488" y="365126"/>
            <a:ext cx="10193169" cy="51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MVC vs Django MVT</a:t>
            </a:r>
            <a:endParaRPr sz="4000" dirty="0">
              <a:solidFill>
                <a:srgbClr val="000000"/>
              </a:solidFill>
            </a:endParaRP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1371600" y="1737360"/>
          <a:ext cx="7863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MVC</a:t>
                      </a:r>
                    </a:p>
                  </a:txBody>
                  <a:tcPr>
                    <a:solidFill>
                      <a:srgbClr val="3DB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Django MVT</a:t>
                      </a:r>
                    </a:p>
                  </a:txBody>
                  <a:tcPr>
                    <a:solidFill>
                      <a:srgbClr val="3DB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Controller</a:t>
                      </a:r>
                    </a:p>
                  </a:txBody>
                  <a:tcPr>
                    <a:solidFill>
                      <a:srgbClr val="E7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View</a:t>
                      </a:r>
                    </a:p>
                  </a:txBody>
                  <a:tcPr>
                    <a:solidFill>
                      <a:srgbClr val="E7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A1A1A"/>
                          </a:solidFill>
                          <a:latin typeface="Arial"/>
                        </a:rPr>
                        <a:t>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371600" y="39319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Arial"/>
              </a:rPr>
              <a:t>Una Django View cumple parte del papel que normalmente asociamos a un Controller.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0" y="44348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Arial"/>
              </a:rPr>
              <a:t>Un Django Template representa la capa de presentación HTML.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 err="1">
                <a:solidFill>
                  <a:srgbClr val="1A1A1A"/>
                </a:solidFill>
                <a:latin typeface="Arial"/>
              </a:rPr>
              <a:t>URLs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38789" y="1370985"/>
            <a:ext cx="9760760" cy="5170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El sistema de </a:t>
            </a:r>
            <a:r>
              <a:rPr lang="es-ES" sz="2400" dirty="0" err="1"/>
              <a:t>URLs</a:t>
            </a:r>
            <a:r>
              <a:rPr lang="es-ES" sz="2400" dirty="0"/>
              <a:t> de Django (definido en archivos urls.py) es el mecanismo de enrutamiento que asocia cada dirección solicitada por el navegador con la función o clase (View) que debe atenderla. Funciona como un "director de tráfico": recibe la ruta de la petición, la compara contra una lista de patrones definidos con </a:t>
            </a:r>
            <a:r>
              <a:rPr lang="es-ES" sz="2400" dirty="0" err="1"/>
              <a:t>path</a:t>
            </a:r>
            <a:r>
              <a:rPr lang="es-ES" sz="2400" dirty="0"/>
              <a:t>(), y delega el procesamiento a la View </a:t>
            </a:r>
            <a:r>
              <a:rPr lang="es-ES" sz="2400" dirty="0" err="1"/>
              <a:t>correspondiente.Ejemplo</a:t>
            </a:r>
            <a:r>
              <a:rPr lang="es-ES" sz="2400" dirty="0"/>
              <a:t>:</a:t>
            </a: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r>
              <a:rPr lang="es-ES" sz="2400" dirty="0">
                <a:solidFill>
                  <a:srgbClr val="555555"/>
                </a:solidFill>
              </a:rPr>
              <a:t>Cuando alguien visita /productos/, Django ejecuta automáticamente </a:t>
            </a:r>
            <a:r>
              <a:rPr lang="es-ES" sz="2400" dirty="0" err="1">
                <a:solidFill>
                  <a:srgbClr val="555555"/>
                </a:solidFill>
              </a:rPr>
              <a:t>product_list</a:t>
            </a:r>
            <a:r>
              <a:rPr lang="es-ES" sz="2400" dirty="0">
                <a:solidFill>
                  <a:srgbClr val="555555"/>
                </a:solidFill>
              </a:rPr>
              <a:t>().</a:t>
            </a:r>
          </a:p>
          <a:p>
            <a:pPr algn="l"/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C80E7D-DA84-D9F3-FC9D-D82A3610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89" y="3857335"/>
            <a:ext cx="10751103" cy="13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75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>
                <a:solidFill>
                  <a:srgbClr val="1A1A1A"/>
                </a:solidFill>
                <a:latin typeface="Arial"/>
              </a:rPr>
              <a:t>View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369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Una View es la función (o clase) de Django encargada de recibir una solicitud HTTP, decidir qué hacer con ella —típicamente consultando datos a través de un </a:t>
            </a:r>
            <a:r>
              <a:rPr lang="es-ES" sz="2400" dirty="0" err="1"/>
              <a:t>Model</a:t>
            </a:r>
            <a:r>
              <a:rPr lang="es-ES" sz="2400" dirty="0"/>
              <a:t>—, y devolver una respuesta, casi siempre renderizando un </a:t>
            </a:r>
            <a:r>
              <a:rPr lang="es-ES" sz="2400" dirty="0" err="1"/>
              <a:t>Template</a:t>
            </a:r>
            <a:r>
              <a:rPr lang="es-ES" sz="2400" dirty="0"/>
              <a:t> con esos datos.</a:t>
            </a:r>
          </a:p>
          <a:p>
            <a:pPr algn="l"/>
            <a:r>
              <a:rPr lang="es-ES" sz="2400" dirty="0"/>
              <a:t>Ejemplo:</a:t>
            </a:r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ABEAE8-EA17-95B6-C65E-1C95028C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66" y="3162086"/>
            <a:ext cx="10649497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04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405036" y="365125"/>
            <a:ext cx="10168622" cy="64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URLs y Views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5760720" cy="7772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500">
                <a:solidFill>
                  <a:srgbClr val="E8E8E8"/>
                </a:solidFill>
                <a:latin typeface="Consolas"/>
              </a:rPr>
              <a:t>path("", views.item_list, name="item_list")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2834640"/>
            <a:ext cx="5760720" cy="10058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500">
                <a:solidFill>
                  <a:srgbClr val="E8E8E8"/>
                </a:solidFill>
                <a:latin typeface="Consolas"/>
              </a:rPr>
              <a:t>def item_list(request):</a:t>
            </a:r>
          </a:p>
          <a:p>
            <a:pPr algn="l"/>
            <a:r>
              <a:rPr sz="1500">
                <a:solidFill>
                  <a:srgbClr val="E8E8E8"/>
                </a:solidFill>
                <a:latin typeface="Consolas"/>
              </a:rPr>
              <a:t>    ...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1148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DB8E0"/>
                </a:solidFill>
                <a:latin typeface="Arial"/>
              </a:rPr>
              <a:t>URL = ¿a dónde va la solicitud?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61772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6BBF59"/>
                </a:solidFill>
                <a:latin typeface="Arial"/>
              </a:rPr>
              <a:t>View = ¿qué hacemos con la solicitud?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675120" y="2011680"/>
            <a:ext cx="3200400" cy="64008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/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8161020" y="2651760"/>
            <a:ext cx="228600" cy="22860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675120" y="2880360"/>
            <a:ext cx="3200400" cy="64008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item_list()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 err="1">
                <a:solidFill>
                  <a:srgbClr val="1A1A1A"/>
                </a:solidFill>
                <a:latin typeface="Arial"/>
              </a:rPr>
              <a:t>Models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332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Un </a:t>
            </a:r>
            <a:r>
              <a:rPr lang="es-ES" sz="2400" dirty="0" err="1"/>
              <a:t>Model</a:t>
            </a:r>
            <a:r>
              <a:rPr lang="es-ES" sz="2400" dirty="0"/>
              <a:t> es una clase de Python que representa una entidad de datos y define su estructura mediante atributos, cada uno mapeado a una columna de una tabla en la base de datos. Además puede incluir validaciones, relaciones con otros modelos y métodos propios.</a:t>
            </a:r>
          </a:p>
          <a:p>
            <a:pPr algn="l"/>
            <a:r>
              <a:rPr lang="es-ES" sz="2400" dirty="0"/>
              <a:t>Ejemplo:</a:t>
            </a:r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B8F463-04B1-CFBD-EDDF-B6ECB303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62" y="3002651"/>
            <a:ext cx="10674899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5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>
                <a:solidFill>
                  <a:srgbClr val="1A1A1A"/>
                </a:solidFill>
                <a:latin typeface="Arial"/>
              </a:rPr>
              <a:t>ORM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4801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El ORM (</a:t>
            </a:r>
            <a:r>
              <a:rPr lang="es-ES" sz="2400" dirty="0" err="1"/>
              <a:t>Object-Relational</a:t>
            </a:r>
            <a:r>
              <a:rPr lang="es-ES" sz="2400" dirty="0"/>
              <a:t> </a:t>
            </a:r>
            <a:r>
              <a:rPr lang="es-ES" sz="2400" dirty="0" err="1"/>
              <a:t>Mapping</a:t>
            </a:r>
            <a:r>
              <a:rPr lang="es-ES" sz="2400" dirty="0"/>
              <a:t>) de Django es la capa que traduce automáticamente las operaciones realizadas sobre objetos Python (instancias de un </a:t>
            </a:r>
            <a:r>
              <a:rPr lang="es-ES" sz="2400" dirty="0" err="1"/>
              <a:t>Model</a:t>
            </a:r>
            <a:r>
              <a:rPr lang="es-ES" sz="2400" dirty="0"/>
              <a:t>) en sentencias SQL, y viceversa. Gracias a él, el desarrollador puede escribir consultas sin escribir SQL directamente.</a:t>
            </a:r>
            <a:br>
              <a:rPr lang="es-ES" sz="2400" dirty="0"/>
            </a:br>
            <a:r>
              <a:rPr lang="es-ES" sz="2400" i="1" dirty="0"/>
              <a:t>Ejemplo:</a:t>
            </a:r>
          </a:p>
          <a:p>
            <a:pPr algn="l"/>
            <a:endParaRPr lang="es-ES" sz="2400" i="1" dirty="0"/>
          </a:p>
          <a:p>
            <a:pPr algn="l"/>
            <a:endParaRPr lang="es-ES" sz="2400" i="1" dirty="0"/>
          </a:p>
          <a:p>
            <a:pPr algn="l"/>
            <a:endParaRPr lang="es-ES" sz="2400" i="1" dirty="0"/>
          </a:p>
          <a:p>
            <a:pPr algn="l"/>
            <a:endParaRPr lang="es-ES" sz="2400" i="1" dirty="0"/>
          </a:p>
          <a:p>
            <a:pPr algn="l"/>
            <a:endParaRPr lang="es-ES" sz="2400" i="1" dirty="0"/>
          </a:p>
          <a:p>
            <a:pPr algn="l"/>
            <a:endParaRPr lang="es-ES" sz="2400" i="1" dirty="0"/>
          </a:p>
          <a:p>
            <a:pPr algn="l"/>
            <a:r>
              <a:rPr lang="es-ES" sz="2400" i="1" dirty="0"/>
              <a:t>Django traduce esto internamente a algo como SELECT * FROM </a:t>
            </a:r>
            <a:r>
              <a:rPr lang="es-ES" sz="2400" i="1" dirty="0" err="1"/>
              <a:t>item</a:t>
            </a:r>
            <a:r>
              <a:rPr lang="es-ES" sz="2400" i="1" dirty="0"/>
              <a:t> WHERE </a:t>
            </a:r>
            <a:r>
              <a:rPr lang="es-ES" sz="2400" i="1" dirty="0" err="1"/>
              <a:t>name</a:t>
            </a:r>
            <a:r>
              <a:rPr lang="es-ES" sz="2400" i="1" dirty="0"/>
              <a:t> = 'Laptop';.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E2805A-0210-D872-CDF0-3D9E314E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62" y="3209783"/>
            <a:ext cx="10655848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11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Models y ORM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5760720" cy="19659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200" i="1">
                <a:solidFill>
                  <a:srgbClr val="9A9AB0"/>
                </a:solidFill>
                <a:latin typeface="Consolas"/>
              </a:rPr>
              <a:t># core/models.py (código real)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class Item(models.Model):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name = models.CharField(max_length=200)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description = models.TextField(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    blank=True, null=True)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created_at = models.DateTimeField(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    auto_now_add=True)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3977639"/>
            <a:ext cx="576072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Item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3268980" y="4480559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4617719"/>
            <a:ext cx="5760720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id · name · description · created_at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5780" y="551677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id es generado automáticamente por Django.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675120" y="1828800"/>
            <a:ext cx="3200400" cy="5943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Item.objects.all()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675120" y="2697480"/>
            <a:ext cx="32004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8206740" y="3200400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675120" y="3337560"/>
            <a:ext cx="32004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Django ORM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8206740" y="3840480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675120" y="3977640"/>
            <a:ext cx="32004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8206740" y="4480560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675120" y="4617720"/>
            <a:ext cx="32004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SQLite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>
                <a:solidFill>
                  <a:srgbClr val="1A1A1A"/>
                </a:solidFill>
                <a:latin typeface="Arial"/>
              </a:rPr>
              <a:t>Migraciones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Las migraciones son archivos generados por Django que registran, de forma versionada, los cambios realizados en los </a:t>
            </a:r>
            <a:r>
              <a:rPr lang="es-ES" sz="2400" dirty="0" err="1"/>
              <a:t>Models</a:t>
            </a:r>
            <a:r>
              <a:rPr lang="es-ES" sz="2400" dirty="0"/>
              <a:t>. El comando </a:t>
            </a:r>
            <a:r>
              <a:rPr lang="es-ES" sz="2400" dirty="0" err="1"/>
              <a:t>makemigrations</a:t>
            </a:r>
            <a:r>
              <a:rPr lang="es-ES" sz="2400" dirty="0"/>
              <a:t> crea estos archivos a partir de las diferencias detectadas en models.py, y </a:t>
            </a:r>
            <a:r>
              <a:rPr lang="es-ES" sz="2400" dirty="0" err="1"/>
              <a:t>migrate</a:t>
            </a:r>
            <a:r>
              <a:rPr lang="es-ES" sz="2400" dirty="0"/>
              <a:t> los aplica a la base de datos real.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Ejemplo: Después de agregar el campo stock al modelo </a:t>
            </a:r>
            <a:r>
              <a:rPr lang="es-ES" sz="2400" dirty="0" err="1"/>
              <a:t>Product</a:t>
            </a:r>
            <a:r>
              <a:rPr lang="es-ES" sz="2400" dirty="0"/>
              <a:t>: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D4F194-FB35-7C15-DCCA-6C41ABD40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62" y="3429000"/>
            <a:ext cx="10668548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6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Migraciones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548640" y="1783080"/>
            <a:ext cx="3291840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models.py</a:t>
            </a:r>
          </a:p>
        </p:txBody>
      </p:sp>
      <p:sp>
        <p:nvSpPr>
          <p:cNvPr id="82" name="Down Arrow 81"/>
          <p:cNvSpPr/>
          <p:nvPr/>
        </p:nvSpPr>
        <p:spPr>
          <a:xfrm>
            <a:off x="2125980" y="2350008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48640" y="2487168"/>
            <a:ext cx="3291840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makemigrations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2125980" y="3054096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548640" y="3191256"/>
            <a:ext cx="3291840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Migration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2125980" y="3758184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548640" y="3895344"/>
            <a:ext cx="3291840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migrate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2125980" y="4462272"/>
            <a:ext cx="137160" cy="13716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48640" y="4599432"/>
            <a:ext cx="3291840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54880" y="1920240"/>
            <a:ext cx="5120640" cy="9144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500">
                <a:solidFill>
                  <a:srgbClr val="E8E8E8"/>
                </a:solidFill>
                <a:latin typeface="Consolas"/>
              </a:rPr>
              <a:t>python manage.py makemigrations</a:t>
            </a:r>
          </a:p>
          <a:p>
            <a:pPr algn="l"/>
            <a:r>
              <a:rPr sz="1500">
                <a:solidFill>
                  <a:srgbClr val="E8E8E8"/>
                </a:solidFill>
                <a:latin typeface="Consolas"/>
              </a:rPr>
              <a:t>python manage.py migrate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54880" y="3200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En el proyecto real: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754880" y="3611880"/>
            <a:ext cx="5120640" cy="5943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core/migrations/0001_initial.py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0" y="4343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rial"/>
              </a:rPr>
              <a:t>Esta migración crea la tabla del modelo Item.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 err="1">
                <a:solidFill>
                  <a:srgbClr val="1A1A1A"/>
                </a:solidFill>
                <a:latin typeface="Arial"/>
              </a:rPr>
              <a:t>Template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Un </a:t>
            </a:r>
            <a:r>
              <a:rPr lang="es-ES" sz="2400" dirty="0" err="1"/>
              <a:t>Template</a:t>
            </a:r>
            <a:r>
              <a:rPr lang="es-ES" sz="2400" dirty="0"/>
              <a:t> es un archivo (normalmente HTML) que define cómo se presenta la información al usuario, combinando marcado estático con marcadores dinámicos propios del lenguaje de plantillas de Django, como {{ variable }} o {% </a:t>
            </a:r>
            <a:r>
              <a:rPr lang="es-ES" sz="2400" dirty="0" err="1"/>
              <a:t>for</a:t>
            </a:r>
            <a:r>
              <a:rPr lang="es-ES" sz="2400" dirty="0"/>
              <a:t> %} / {% </a:t>
            </a:r>
            <a:r>
              <a:rPr lang="es-ES" sz="2400" dirty="0" err="1"/>
              <a:t>if</a:t>
            </a:r>
            <a:r>
              <a:rPr lang="es-ES" sz="2400" dirty="0"/>
              <a:t> %}. Los </a:t>
            </a:r>
            <a:r>
              <a:rPr lang="es-ES" sz="2400" dirty="0" err="1"/>
              <a:t>Templates</a:t>
            </a:r>
            <a:r>
              <a:rPr lang="es-ES" sz="2400" dirty="0"/>
              <a:t> pueden heredar entre sí mediante {% </a:t>
            </a:r>
            <a:r>
              <a:rPr lang="es-ES" sz="2400" dirty="0" err="1"/>
              <a:t>extends</a:t>
            </a:r>
            <a:r>
              <a:rPr lang="es-ES" sz="2400" dirty="0"/>
              <a:t> %}.</a:t>
            </a:r>
          </a:p>
          <a:p>
            <a:pPr algn="l"/>
            <a:endParaRPr lang="es-ES" sz="2400" dirty="0"/>
          </a:p>
          <a:p>
            <a:pPr algn="l"/>
            <a:r>
              <a:rPr lang="es-ES" sz="2400" dirty="0"/>
              <a:t>Ejemplo:</a:t>
            </a:r>
            <a:endParaRPr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AEF3A4-1D76-A730-B40E-E8EAFB81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62" y="3702912"/>
            <a:ext cx="9796136" cy="26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50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43666" y="365125"/>
            <a:ext cx="10229991" cy="52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200" b="1" dirty="0" err="1">
                <a:solidFill>
                  <a:srgbClr val="1A1A1A"/>
                </a:solidFill>
                <a:latin typeface="Arial"/>
              </a:rPr>
              <a:t>Context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0762" y="1003720"/>
            <a:ext cx="9760760" cy="4801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400" dirty="0"/>
              <a:t>El </a:t>
            </a:r>
            <a:r>
              <a:rPr lang="es-ES" sz="2400" dirty="0" err="1"/>
              <a:t>Context</a:t>
            </a:r>
            <a:r>
              <a:rPr lang="es-ES" sz="2400" dirty="0"/>
              <a:t> es el diccionario de datos que una View envía a un </a:t>
            </a:r>
            <a:r>
              <a:rPr lang="es-ES" sz="2400" dirty="0" err="1"/>
              <a:t>Template</a:t>
            </a:r>
            <a:r>
              <a:rPr lang="es-ES" sz="2400" dirty="0"/>
              <a:t> en el momento de renderizarlo. Actúa como el "puente" entre el procesamiento (View) y la presentación (</a:t>
            </a:r>
            <a:r>
              <a:rPr lang="es-ES" sz="2400" dirty="0" err="1"/>
              <a:t>Template</a:t>
            </a:r>
            <a:r>
              <a:rPr lang="es-ES" sz="2400" dirty="0"/>
              <a:t>): cada clave del diccionario queda disponible dentro del </a:t>
            </a:r>
            <a:r>
              <a:rPr lang="es-ES" sz="2400" dirty="0" err="1"/>
              <a:t>Template</a:t>
            </a:r>
            <a:r>
              <a:rPr lang="es-ES" sz="2400" dirty="0"/>
              <a:t> como una variable.</a:t>
            </a:r>
          </a:p>
          <a:p>
            <a:pPr algn="l"/>
            <a:r>
              <a:rPr lang="es-ES" sz="2400" dirty="0"/>
              <a:t>Ejemplo:</a:t>
            </a: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endParaRPr lang="es-ES" sz="2400" dirty="0">
              <a:solidFill>
                <a:srgbClr val="555555"/>
              </a:solidFill>
            </a:endParaRP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  <a:p>
            <a:pPr algn="l"/>
            <a:r>
              <a:rPr lang="es-ES" sz="2400" dirty="0">
                <a:solidFill>
                  <a:srgbClr val="555555"/>
                </a:solidFill>
              </a:rPr>
              <a:t>El diccionario {'</a:t>
            </a:r>
            <a:r>
              <a:rPr lang="es-ES" sz="2400" dirty="0" err="1">
                <a:solidFill>
                  <a:srgbClr val="555555"/>
                </a:solidFill>
              </a:rPr>
              <a:t>items</a:t>
            </a:r>
            <a:r>
              <a:rPr lang="es-ES" sz="2400" dirty="0">
                <a:solidFill>
                  <a:srgbClr val="555555"/>
                </a:solidFill>
              </a:rPr>
              <a:t>': </a:t>
            </a:r>
            <a:r>
              <a:rPr lang="es-ES" sz="2400" dirty="0" err="1">
                <a:solidFill>
                  <a:srgbClr val="555555"/>
                </a:solidFill>
              </a:rPr>
              <a:t>items</a:t>
            </a:r>
            <a:r>
              <a:rPr lang="es-ES" sz="2400" dirty="0">
                <a:solidFill>
                  <a:srgbClr val="555555"/>
                </a:solidFill>
              </a:rPr>
              <a:t>} es el </a:t>
            </a:r>
            <a:r>
              <a:rPr lang="es-ES" sz="2400" dirty="0" err="1">
                <a:solidFill>
                  <a:srgbClr val="555555"/>
                </a:solidFill>
              </a:rPr>
              <a:t>Context</a:t>
            </a:r>
            <a:r>
              <a:rPr lang="es-ES" sz="2400" dirty="0">
                <a:solidFill>
                  <a:srgbClr val="555555"/>
                </a:solidFill>
              </a:rPr>
              <a:t>: dentro del </a:t>
            </a:r>
            <a:r>
              <a:rPr lang="es-ES" sz="2400" dirty="0" err="1">
                <a:solidFill>
                  <a:srgbClr val="555555"/>
                </a:solidFill>
              </a:rPr>
              <a:t>template</a:t>
            </a:r>
            <a:r>
              <a:rPr lang="es-ES" sz="2400" dirty="0">
                <a:solidFill>
                  <a:srgbClr val="555555"/>
                </a:solidFill>
              </a:rPr>
              <a:t>, </a:t>
            </a:r>
            <a:r>
              <a:rPr lang="es-ES" sz="2400" dirty="0" err="1">
                <a:solidFill>
                  <a:srgbClr val="555555"/>
                </a:solidFill>
              </a:rPr>
              <a:t>items</a:t>
            </a:r>
            <a:r>
              <a:rPr lang="es-ES" sz="2400" dirty="0">
                <a:solidFill>
                  <a:srgbClr val="555555"/>
                </a:solidFill>
              </a:rPr>
              <a:t> queda disponible para usarse en {% </a:t>
            </a:r>
            <a:r>
              <a:rPr lang="es-ES" sz="2400" dirty="0" err="1">
                <a:solidFill>
                  <a:srgbClr val="555555"/>
                </a:solidFill>
              </a:rPr>
              <a:t>for</a:t>
            </a:r>
            <a:r>
              <a:rPr lang="es-ES" sz="2400" dirty="0">
                <a:solidFill>
                  <a:srgbClr val="555555"/>
                </a:solidFill>
              </a:rPr>
              <a:t> </a:t>
            </a:r>
            <a:r>
              <a:rPr lang="es-ES" sz="2400" dirty="0" err="1">
                <a:solidFill>
                  <a:srgbClr val="555555"/>
                </a:solidFill>
              </a:rPr>
              <a:t>item</a:t>
            </a:r>
            <a:r>
              <a:rPr lang="es-ES" sz="2400" dirty="0">
                <a:solidFill>
                  <a:srgbClr val="555555"/>
                </a:solidFill>
              </a:rPr>
              <a:t> in </a:t>
            </a:r>
            <a:r>
              <a:rPr lang="es-ES" sz="2400" dirty="0" err="1">
                <a:solidFill>
                  <a:srgbClr val="555555"/>
                </a:solidFill>
              </a:rPr>
              <a:t>items</a:t>
            </a:r>
            <a:r>
              <a:rPr lang="es-ES" sz="2400" dirty="0">
                <a:solidFill>
                  <a:srgbClr val="555555"/>
                </a:solidFill>
              </a:rPr>
              <a:t> %}.</a:t>
            </a:r>
          </a:p>
          <a:p>
            <a:pPr algn="l"/>
            <a:endParaRPr lang="es-ES" sz="2400" b="0" i="0" dirty="0">
              <a:solidFill>
                <a:srgbClr val="555555"/>
              </a:solidFill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D066132-FA50-4412-A557-80B313353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66" y="3201325"/>
            <a:ext cx="10630446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21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Templates y Context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828800"/>
            <a:ext cx="5212080" cy="210312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200" i="1">
                <a:solidFill>
                  <a:srgbClr val="9A9AB0"/>
                </a:solidFill>
                <a:latin typeface="Consolas"/>
              </a:rPr>
              <a:t># core/views.py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items = Item.objects.all()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return render(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request,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"core/item_list.html",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{'items': items}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0" y="1828800"/>
            <a:ext cx="4206240" cy="12801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200" i="1">
                <a:solidFill>
                  <a:srgbClr val="9A9AB0"/>
                </a:solidFill>
                <a:latin typeface="Consolas"/>
              </a:rPr>
              <a:t># core/templates/core/item_list.html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{% for item in items %}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{{ item.name }}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{% endfor %}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4297680"/>
            <a:ext cx="2194560" cy="59436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View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2679192" y="452628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843784" y="4297680"/>
            <a:ext cx="2194560" cy="59436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5065776" y="452628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5230368" y="4297680"/>
            <a:ext cx="2194560" cy="59436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452360" y="4526280"/>
            <a:ext cx="137160" cy="13716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7616952" y="4297680"/>
            <a:ext cx="2194560" cy="59436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HTML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5212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Arial"/>
              </a:rPr>
              <a:t>Herencia:  base.html  →  item_list.html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417310" y="365125"/>
            <a:ext cx="10156348" cy="56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Bloque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1 — Un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proyecto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Django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vacío</a:t>
            </a:r>
            <a:endParaRPr sz="4000" dirty="0">
              <a:solidFill>
                <a:srgbClr val="000000"/>
              </a:solidFill>
            </a:endParaRPr>
          </a:p>
        </p:txBody>
      </p:sp>
      <p:pic>
        <p:nvPicPr>
          <p:cNvPr id="81" name="Picture 80" descr="configuracion_va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835" y="1022101"/>
            <a:ext cx="8340064" cy="55600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276161" y="365125"/>
            <a:ext cx="10297497" cy="56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Componentes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de un Project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recién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creado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65760" y="1783080"/>
            <a:ext cx="34290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manage.py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237744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Herramienta de administración.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python manage.py runserver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python manage.py migrate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python manage.py startapp core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31920" y="1783080"/>
            <a:ext cx="34290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settings.py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1920" y="237744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Configuración general del proyecto.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3192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INSTALLED_APPS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MIDDLEWARE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DATABASES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TEMPLATES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STATIC_URL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98080" y="1783080"/>
            <a:ext cx="3429000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urls.py / asgi.py / wsgi.py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80" y="237744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Entrada de rutas y de servidores.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498080" y="30632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 dirty="0" err="1">
                <a:solidFill>
                  <a:srgbClr val="E8E8E8"/>
                </a:solidFill>
                <a:latin typeface="Consolas"/>
              </a:rPr>
              <a:t>urlpatterns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 = [...]</a:t>
            </a:r>
          </a:p>
          <a:p>
            <a:pPr algn="l"/>
            <a:r>
              <a:rPr sz="1100" dirty="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100" dirty="0">
                <a:solidFill>
                  <a:srgbClr val="E8E8E8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E8E8E8"/>
                </a:solidFill>
                <a:latin typeface="Consolas"/>
              </a:rPr>
              <a:t>asgi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E8E8E8"/>
                </a:solidFill>
                <a:latin typeface="Consolas"/>
              </a:rPr>
              <a:t>wsgi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: puntos de entrada</a:t>
            </a:r>
          </a:p>
          <a:p>
            <a:pPr algn="l"/>
            <a:r>
              <a:rPr sz="1100" dirty="0">
                <a:solidFill>
                  <a:srgbClr val="E8E8E8"/>
                </a:solidFill>
                <a:latin typeface="Consolas"/>
              </a:rPr>
              <a:t># para </a:t>
            </a:r>
            <a:r>
              <a:rPr sz="1100" dirty="0" err="1">
                <a:solidFill>
                  <a:srgbClr val="E8E8E8"/>
                </a:solidFill>
                <a:latin typeface="Consolas"/>
              </a:rPr>
              <a:t>servidores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 (no </a:t>
            </a:r>
            <a:r>
              <a:rPr sz="1100" dirty="0" err="1">
                <a:solidFill>
                  <a:srgbClr val="E8E8E8"/>
                </a:solidFill>
                <a:latin typeface="Consolas"/>
              </a:rPr>
              <a:t>profundizar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8E8E8"/>
                </a:solidFill>
                <a:latin typeface="Consolas"/>
              </a:rPr>
              <a:t>aún</a:t>
            </a:r>
            <a:r>
              <a:rPr sz="1100" dirty="0">
                <a:solidFill>
                  <a:srgbClr val="E8E8E8"/>
                </a:solidFill>
                <a:latin typeface="Consolas"/>
              </a:rPr>
              <a:t>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5074920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rial"/>
              </a:rPr>
              <a:t>Todavía NO existen: Apps propias · Models propios · Views propias · Templates propios · URLs de una App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263887" y="365125"/>
            <a:ext cx="10309771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Bloque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2 — El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proyecto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real: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DjangoInicial</a:t>
            </a:r>
            <a:endParaRPr sz="4000" dirty="0">
              <a:solidFill>
                <a:srgbClr val="000000"/>
              </a:solidFill>
            </a:endParaRPr>
          </a:p>
        </p:txBody>
      </p:sp>
      <p:pic>
        <p:nvPicPr>
          <p:cNvPr id="81" name="Picture 80" descr="explicacion_de_un_proye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7" y="1005839"/>
            <a:ext cx="8745100" cy="58300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06846" y="365125"/>
            <a:ext cx="10266812" cy="604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config —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configuración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global (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código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real)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783080"/>
            <a:ext cx="5212080" cy="28346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 i="1">
                <a:solidFill>
                  <a:srgbClr val="9A9AB0"/>
                </a:solidFill>
                <a:latin typeface="Consolas"/>
              </a:rPr>
              <a:t># config/settings.py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INSTALLED_APPS = [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...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'core',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]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DATABASES = {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'default': {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'ENGINE': 'django.db.backends.sqlite3',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ROOT_URLCONF = 'config.urls'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0" y="1783080"/>
            <a:ext cx="4206240" cy="1371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200" i="1">
                <a:solidFill>
                  <a:srgbClr val="9A9AB0"/>
                </a:solidFill>
                <a:latin typeface="Consolas"/>
              </a:rPr>
              <a:t># config/urls.py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urlpatterns = [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path('admin/', admin.site.urls),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path('', include('core.urls')),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0" y="3429000"/>
            <a:ext cx="4206240" cy="548640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/admin/  →  Django Admin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7955280" y="3977640"/>
            <a:ext cx="182880" cy="18288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5943600" y="4160520"/>
            <a:ext cx="420624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/  →  core.urls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06846" y="365125"/>
            <a:ext cx="10266812" cy="54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core — urls.py y views.py (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código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real)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783080"/>
            <a:ext cx="5212080" cy="9144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300" i="1">
                <a:solidFill>
                  <a:srgbClr val="9A9AB0"/>
                </a:solidFill>
                <a:latin typeface="Consolas"/>
              </a:rPr>
              <a:t># core/urls.py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path('', views.item_list,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name='item_list')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2880360"/>
            <a:ext cx="521208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/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2985516" y="3429000"/>
            <a:ext cx="155448" cy="155448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3584448"/>
            <a:ext cx="521208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item_list()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0" y="1783080"/>
            <a:ext cx="4206240" cy="19202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 i="1">
                <a:solidFill>
                  <a:srgbClr val="9A9AB0"/>
                </a:solidFill>
                <a:latin typeface="Consolas"/>
              </a:rPr>
              <a:t># core/views.py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def item_list(request):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items = Item.objects.all()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return render(request,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'core/item_list.html',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{'items': items})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3977639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1. recibe el request  2. consulta Item vía ORM  3. arma el context  4. renderiza el template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06846" y="365126"/>
            <a:ext cx="10266812" cy="50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core — models.py y admin.py (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código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real)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783080"/>
            <a:ext cx="5760720" cy="26517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 i="1">
                <a:solidFill>
                  <a:srgbClr val="9A9AB0"/>
                </a:solidFill>
                <a:latin typeface="Consolas"/>
              </a:rPr>
              <a:t># core/models.py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class Item(models.Model):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name = models.CharField(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max_length=200)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description = models.TextField(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blank=True, null=True)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created_at = models.DateTimeField(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auto_now_add=True)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def __str__(self):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return self.name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2240" y="1783080"/>
            <a:ext cx="3749039" cy="685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200" i="1">
                <a:solidFill>
                  <a:srgbClr val="9A9AB0"/>
                </a:solidFill>
                <a:latin typeface="Consolas"/>
              </a:rPr>
              <a:t># core/admin.py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admin.site.register(Item)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269748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Permite administrar Item desde /admin/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92240" y="3383280"/>
            <a:ext cx="114300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7662672" y="3611880"/>
            <a:ext cx="91440" cy="9144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781544" y="3383280"/>
            <a:ext cx="114300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Migration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8951976" y="3611880"/>
            <a:ext cx="91440" cy="91440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9070848" y="3383280"/>
            <a:ext cx="1143000" cy="54864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SQLite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31392" y="365126"/>
            <a:ext cx="10242265" cy="47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core — Templates (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código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real)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57200" y="1783080"/>
            <a:ext cx="6035040" cy="301752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01600" bIns="101600" rtlCol="0" anchor="ctr"/>
          <a:lstStyle/>
          <a:p>
            <a:pPr algn="l"/>
            <a:r>
              <a:rPr sz="1100" i="1">
                <a:solidFill>
                  <a:srgbClr val="9A9AB0"/>
                </a:solidFill>
                <a:latin typeface="Consolas"/>
              </a:rPr>
              <a:t># core/templates/core/item_list.html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{% extends "base.html" %}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{% block content %}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&lt;h2&gt;Listado de Items&lt;/h2&gt;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{% for item in items %}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{{ item.name }}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{% empty %}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No hay items registrados.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{% endfor %}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{% endblock %}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858000" y="1920240"/>
            <a:ext cx="3291840" cy="59436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base.html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8412480" y="2514600"/>
            <a:ext cx="182880" cy="18288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858000" y="2697480"/>
            <a:ext cx="3291840" cy="59436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item_list.html  (herencia)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32918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{% empty %} controla el caso sin registros.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0040" y="365125"/>
            <a:ext cx="10253618" cy="56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 dirty="0" err="1">
                <a:solidFill>
                  <a:srgbClr val="1A1A1A"/>
                </a:solidFill>
                <a:latin typeface="Arial"/>
              </a:rPr>
              <a:t>Flujo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real del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proyecto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DjangoInicial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20040" y="1828800"/>
            <a:ext cx="1444752" cy="566928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Usuario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179222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874520" y="1828800"/>
            <a:ext cx="1444752" cy="566928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 /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334670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429000" y="1828800"/>
            <a:ext cx="1444752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config/urls.py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490118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983480" y="1828800"/>
            <a:ext cx="1444752" cy="566928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core/urls.py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645566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537960" y="1828800"/>
            <a:ext cx="1444752" cy="566928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core/views.py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801014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092440" y="1828800"/>
            <a:ext cx="1444752" cy="566928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item_list()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9564624" y="208483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9646920" y="1828800"/>
            <a:ext cx="1444752" cy="566928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Item.objects.all()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0040" y="2788920"/>
            <a:ext cx="1444752" cy="566928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Django ORM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179222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1874520" y="2788920"/>
            <a:ext cx="1444752" cy="566928"/>
          </a:xfrm>
          <a:prstGeom prst="round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SQLite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334670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3429000" y="2788920"/>
            <a:ext cx="1444752" cy="566928"/>
          </a:xfrm>
          <a:prstGeom prst="roundRect">
            <a:avLst/>
          </a:prstGeom>
          <a:solidFill>
            <a:srgbClr val="9B5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490118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4983480" y="2788920"/>
            <a:ext cx="1444752" cy="566928"/>
          </a:xfrm>
          <a:prstGeom prst="roundRect">
            <a:avLst/>
          </a:prstGeom>
          <a:solidFill>
            <a:srgbClr val="9B5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item_list.html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645566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6537960" y="2788920"/>
            <a:ext cx="1444752" cy="566928"/>
          </a:xfrm>
          <a:prstGeom prst="roundRect">
            <a:avLst/>
          </a:prstGeom>
          <a:solidFill>
            <a:srgbClr val="9B5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base.html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801014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8092440" y="2788920"/>
            <a:ext cx="1444752" cy="566928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HTML Response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9564624" y="3044952"/>
            <a:ext cx="54864" cy="54864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9646920" y="2788920"/>
            <a:ext cx="1444752" cy="566928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Navegador</a:t>
            </a:r>
          </a:p>
        </p:txBody>
      </p:sp>
      <p:sp>
        <p:nvSpPr>
          <p:cNvPr id="107" name="Down Arrow 106"/>
          <p:cNvSpPr/>
          <p:nvPr/>
        </p:nvSpPr>
        <p:spPr>
          <a:xfrm>
            <a:off x="9573768" y="2423160"/>
            <a:ext cx="274320" cy="274320"/>
          </a:xfrm>
          <a:prstGeom prst="down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Flujo de ejecución vs. flujo de desarrollo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7200" y="1783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DB8E0"/>
                </a:solidFill>
                <a:latin typeface="Arial"/>
              </a:rPr>
              <a:t>Flujo de ejecución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2057400" y="245516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2157984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3758184" y="245516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3858768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View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5458968" y="245516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559552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7159752" y="245516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260336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8860536" y="245516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961120" y="2240280"/>
            <a:ext cx="1572768" cy="502920"/>
          </a:xfrm>
          <a:prstGeom prst="roundRect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Response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3246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6BBF59"/>
                </a:solidFill>
                <a:latin typeface="Arial"/>
              </a:rPr>
              <a:t>Flujo de desarrollo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370332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venv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2331720" y="391820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2432304" y="370332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startproject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4306824" y="391820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4407408" y="370332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startapp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6281928" y="391820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382512" y="370332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8257032" y="391820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357616" y="370332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makemigrations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57200" y="443484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migrate</a:t>
            </a:r>
          </a:p>
        </p:txBody>
      </p:sp>
      <p:sp>
        <p:nvSpPr>
          <p:cNvPr id="104" name="Right Arrow 103"/>
          <p:cNvSpPr/>
          <p:nvPr/>
        </p:nvSpPr>
        <p:spPr>
          <a:xfrm>
            <a:off x="2331720" y="464972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2432304" y="443484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views</a:t>
            </a:r>
          </a:p>
        </p:txBody>
      </p:sp>
      <p:sp>
        <p:nvSpPr>
          <p:cNvPr id="106" name="Right Arrow 105"/>
          <p:cNvSpPr/>
          <p:nvPr/>
        </p:nvSpPr>
        <p:spPr>
          <a:xfrm>
            <a:off x="4306824" y="464972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4407408" y="443484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urls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6281928" y="464972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382512" y="443484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templates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8257032" y="4649724"/>
            <a:ext cx="73152" cy="73152"/>
          </a:xfrm>
          <a:prstGeom prst="rightArrow">
            <a:avLst/>
          </a:prstGeom>
          <a:solidFill>
            <a:srgbClr val="3D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8357616" y="4434840"/>
            <a:ext cx="1847088" cy="502920"/>
          </a:xfrm>
          <a:prstGeom prst="roundRect">
            <a:avLst/>
          </a:prstGeom>
          <a:solidFill>
            <a:srgbClr val="6BB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runserver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516636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rial"/>
              </a:rPr>
              <a:t>No es lo mismo cómo funciona Django en cada solicitud (ejecución) que cómo se construye paso a paso una app Django (desarrollo).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Conclusiones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 algn="l" rtl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SzPts val="1800"/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Django organiza una aplicación mediante Projects y Apps.</a:t>
            </a:r>
            <a:endParaRPr/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MVT separa datos, procesamiento y presentación.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Una solicitud recorre URL → View → Model → Template → Response.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Django ORM permite trabajar con la base de datos usando objetos Python.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Las migraciones aplican los cambios de los Models a la base de datos.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800">
                <a:solidFill>
                  <a:srgbClr val="1A1A1A"/>
                </a:solidFill>
                <a:latin typeface="Arial"/>
              </a:rPr>
              <a:t>El proyecto DjangoInicial (config/core/Item) implementa exactamente este flujo.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Preguntas de comprobación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 algn="l" rtl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SzPts val="1800"/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Arial"/>
              </a:rPr>
              <a:t>¿Qué componente determina qué View se ejecuta?  →  urls.py</a:t>
            </a:r>
            <a:endParaRPr/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Arial"/>
              </a:rPr>
              <a:t>¿Dónde se definen las entidades de datos?  →  models.py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Arial"/>
              </a:rPr>
              <a:t>¿Qué comando aplica las migraciones?  →  migrate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Arial"/>
              </a:rPr>
              <a:t>¿Qué componente genera el HTML final?  →  Template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Arial"/>
              </a:rPr>
              <a:t>¿Qué componente cumple un papel similar al Controller de MVC?  →  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200" b="1">
                <a:solidFill>
                  <a:srgbClr val="1A1A1A"/>
                </a:solidFill>
                <a:latin typeface="Arial"/>
              </a:rPr>
              <a:t>Referencias Bibliográficas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81" name="Google Shape;81;p2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 algn="l" rtl="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SzPts val="18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Arial"/>
              </a:rPr>
              <a:t>Django Software Foundation. Django documentation — Version 5.2. docs.djangoproject.com/en/5.2/</a:t>
            </a:r>
            <a:endParaRPr/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Arial"/>
              </a:rPr>
              <a:t>Django Software Foundation. Writing your first Django app. docs.djangoproject.com/en/5.2/intro/tutorial01/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Arial"/>
              </a:rPr>
              <a:t>Django Software Foundation. Models and databases. docs.djangoproject.com/en/5.2/topics/db/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Arial"/>
              </a:rPr>
              <a:t>Django Software Foundation. URL dispatcher. docs.djangoproject.com/en/5.2/topics/http/urls/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Arial"/>
              </a:rPr>
              <a:t>Django Software Foundation. Templates. docs.djangoproject.com/en/5.2/topics/templates/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5212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DB8E0"/>
                </a:solidFill>
                <a:latin typeface="Arial"/>
              </a:rPr>
              <a:t>Repositorio del ejemplo: github.com/ybestard2021/DjangoInicial.git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3483</Words>
  <Application>Microsoft Office PowerPoint</Application>
  <PresentationFormat>Panorámica</PresentationFormat>
  <Paragraphs>378</Paragraphs>
  <Slides>37</Slides>
  <Notes>37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Arial</vt:lpstr>
      <vt:lpstr>Calibri</vt:lpstr>
      <vt:lpstr>Consolas</vt:lpstr>
      <vt:lpstr>Tema de Office</vt:lpstr>
      <vt:lpstr>Desarrollo de Aplicación Empresariales  </vt:lpstr>
      <vt:lpstr>Capacidades Terminales</vt:lpstr>
      <vt:lpstr>Contenido</vt:lpstr>
      <vt:lpstr>¿Qué es Django?</vt:lpstr>
      <vt:lpstr>¿Qué ocurre detrás de una aplicación web?</vt:lpstr>
      <vt:lpstr>Video: Django Request / Response Cycle</vt:lpstr>
      <vt:lpstr>Project vs App</vt:lpstr>
      <vt:lpstr>Project vs App en el proyecto real</vt:lpstr>
      <vt:lpstr>Arquitectura MVT</vt:lpstr>
      <vt:lpstr>Arquitectura MVT</vt:lpstr>
      <vt:lpstr>Arquitectura MVC</vt:lpstr>
      <vt:lpstr>Arquitectura MVC vs Django MVT</vt:lpstr>
      <vt:lpstr>MVC vs Django MVT</vt:lpstr>
      <vt:lpstr>URLs</vt:lpstr>
      <vt:lpstr>View</vt:lpstr>
      <vt:lpstr>URLs y Views</vt:lpstr>
      <vt:lpstr>Models</vt:lpstr>
      <vt:lpstr>ORM</vt:lpstr>
      <vt:lpstr>Models y ORM</vt:lpstr>
      <vt:lpstr>Migraciones</vt:lpstr>
      <vt:lpstr>Migraciones</vt:lpstr>
      <vt:lpstr>Template</vt:lpstr>
      <vt:lpstr>Context</vt:lpstr>
      <vt:lpstr>Templates y Context</vt:lpstr>
      <vt:lpstr>Bloque 1 — Un proyecto Django vacío</vt:lpstr>
      <vt:lpstr>Componentes de un Project recién creado</vt:lpstr>
      <vt:lpstr>Bloque 2 — El proyecto real: DjangoInicial</vt:lpstr>
      <vt:lpstr>config — configuración global (código real)</vt:lpstr>
      <vt:lpstr>core — urls.py y views.py (código real)</vt:lpstr>
      <vt:lpstr>core — models.py y admin.py (código real)</vt:lpstr>
      <vt:lpstr>core — Templates (código real)</vt:lpstr>
      <vt:lpstr>Flujo real del proyecto DjangoInicial</vt:lpstr>
      <vt:lpstr>Flujo de ejecución vs. flujo de desarrollo</vt:lpstr>
      <vt:lpstr>Conclusiones</vt:lpstr>
      <vt:lpstr>Preguntas de comprobación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Antonio Lazo de la Vega</dc:creator>
  <cp:lastModifiedBy>Yunior Bestard Aroche</cp:lastModifiedBy>
  <cp:revision>18</cp:revision>
  <dcterms:created xsi:type="dcterms:W3CDTF">2024-02-19T13:59:52Z</dcterms:created>
  <dcterms:modified xsi:type="dcterms:W3CDTF">2026-08-25T16:48:10Z</dcterms:modified>
</cp:coreProperties>
</file>